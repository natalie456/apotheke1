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Montserrat" panose="00000500000000000000" pitchFamily="2" charset="-52"/>
      <p:regular r:id="rId12"/>
      <p:bold r:id="rId13"/>
      <p:italic r:id="rId14"/>
      <p:boldItalic r:id="rId15"/>
    </p:embeddedFont>
    <p:embeddedFont>
      <p:font typeface="Open Sans" panose="020B0606030504020204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1603A20-9158-4839-B76F-91BCBE799FEB}">
  <a:tblStyle styleId="{91603A20-9158-4839-B76F-91BCBE799FE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1190" y="30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alie mukha" userId="11b5122d0ff3b101" providerId="LiveId" clId="{522B37DC-86BD-4E45-93D5-3D7A3EF8228B}"/>
    <pc:docChg chg="modSld">
      <pc:chgData name="natalie mukha" userId="11b5122d0ff3b101" providerId="LiveId" clId="{522B37DC-86BD-4E45-93D5-3D7A3EF8228B}" dt="2025-12-04T08:50:16.774" v="17" actId="1076"/>
      <pc:docMkLst>
        <pc:docMk/>
      </pc:docMkLst>
      <pc:sldChg chg="modSp mod">
        <pc:chgData name="natalie mukha" userId="11b5122d0ff3b101" providerId="LiveId" clId="{522B37DC-86BD-4E45-93D5-3D7A3EF8228B}" dt="2025-12-04T08:48:10.268" v="7" actId="20577"/>
        <pc:sldMkLst>
          <pc:docMk/>
          <pc:sldMk cId="0" sldId="257"/>
        </pc:sldMkLst>
        <pc:spChg chg="mod">
          <ac:chgData name="natalie mukha" userId="11b5122d0ff3b101" providerId="LiveId" clId="{522B37DC-86BD-4E45-93D5-3D7A3EF8228B}" dt="2025-12-04T08:48:10.268" v="7" actId="20577"/>
          <ac:spMkLst>
            <pc:docMk/>
            <pc:sldMk cId="0" sldId="257"/>
            <ac:spMk id="103" creationId="{00000000-0000-0000-0000-000000000000}"/>
          </ac:spMkLst>
        </pc:spChg>
      </pc:sldChg>
      <pc:sldChg chg="modSp mod">
        <pc:chgData name="natalie mukha" userId="11b5122d0ff3b101" providerId="LiveId" clId="{522B37DC-86BD-4E45-93D5-3D7A3EF8228B}" dt="2025-12-04T08:48:59.759" v="11" actId="20577"/>
        <pc:sldMkLst>
          <pc:docMk/>
          <pc:sldMk cId="0" sldId="261"/>
        </pc:sldMkLst>
        <pc:spChg chg="mod">
          <ac:chgData name="natalie mukha" userId="11b5122d0ff3b101" providerId="LiveId" clId="{522B37DC-86BD-4E45-93D5-3D7A3EF8228B}" dt="2025-12-04T08:48:59.759" v="11" actId="20577"/>
          <ac:spMkLst>
            <pc:docMk/>
            <pc:sldMk cId="0" sldId="261"/>
            <ac:spMk id="192" creationId="{00000000-0000-0000-0000-000000000000}"/>
          </ac:spMkLst>
        </pc:spChg>
      </pc:sldChg>
      <pc:sldChg chg="modSp mod">
        <pc:chgData name="natalie mukha" userId="11b5122d0ff3b101" providerId="LiveId" clId="{522B37DC-86BD-4E45-93D5-3D7A3EF8228B}" dt="2025-12-04T08:50:16.774" v="17" actId="1076"/>
        <pc:sldMkLst>
          <pc:docMk/>
          <pc:sldMk cId="0" sldId="262"/>
        </pc:sldMkLst>
        <pc:spChg chg="mod">
          <ac:chgData name="natalie mukha" userId="11b5122d0ff3b101" providerId="LiveId" clId="{522B37DC-86BD-4E45-93D5-3D7A3EF8228B}" dt="2025-12-04T08:49:20.513" v="14" actId="1076"/>
          <ac:spMkLst>
            <pc:docMk/>
            <pc:sldMk cId="0" sldId="262"/>
            <ac:spMk id="219" creationId="{00000000-0000-0000-0000-000000000000}"/>
          </ac:spMkLst>
        </pc:spChg>
        <pc:spChg chg="mod">
          <ac:chgData name="natalie mukha" userId="11b5122d0ff3b101" providerId="LiveId" clId="{522B37DC-86BD-4E45-93D5-3D7A3EF8228B}" dt="2025-12-04T08:50:16.774" v="17" actId="1076"/>
          <ac:spMkLst>
            <pc:docMk/>
            <pc:sldMk cId="0" sldId="262"/>
            <ac:spMk id="22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436850" y="1783250"/>
            <a:ext cx="5325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284C7"/>
                </a:solidFill>
                <a:latin typeface="Montserrat"/>
                <a:ea typeface="Montserrat"/>
                <a:cs typeface="Montserrat"/>
                <a:sym typeface="Montserrat"/>
              </a:rPr>
              <a:t>CLIMAFRESH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3031033"/>
            <a:ext cx="4762500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EA5E9"/>
                </a:solidFill>
                <a:latin typeface="Open Sans"/>
                <a:ea typeface="Open Sans"/>
                <a:cs typeface="Open Sans"/>
                <a:sym typeface="Open Sans"/>
              </a:rPr>
              <a:t>Автоматизований очищувач повітря з UV-дезінфекцією та інтеграцією "Розумний дім"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40135"/>
            <a:ext cx="53816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3581400"/>
            <a:ext cx="5381625" cy="232782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476250" y="2171700"/>
            <a:ext cx="53816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"ClimaFresh"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— це відповідь на зростаючий попит на здоровий спосіб життя в урбанізованому середовищі. Пристрій поєднує високоефективну HEPA-фільтрацію з бактерицидною UV-технологією.</a:t>
            </a:r>
            <a:endParaRPr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2040135"/>
            <a:ext cx="53816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762000" y="3819525"/>
            <a:ext cx="5100637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75985"/>
                </a:solidFill>
                <a:latin typeface="Montserrat"/>
                <a:ea typeface="Montserrat"/>
                <a:cs typeface="Montserrat"/>
                <a:sym typeface="Montserrat"/>
              </a:rPr>
              <a:t>Ключові Переваги: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62000" y="405951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Безпека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UV-C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дезінфекція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(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знищує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99.9%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бактерій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).</a:t>
            </a:r>
            <a:endParaRPr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738187" y="4745310"/>
            <a:ext cx="48577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Інтелект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Датчики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CO₂,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газу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та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пилу</a:t>
            </a:r>
            <a:r>
              <a:rPr lang="uk-UA" sz="1500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  <p:sp>
        <p:nvSpPr>
          <p:cNvPr id="104" name="Google Shape;104;p14"/>
          <p:cNvSpPr txBox="1"/>
          <p:nvPr/>
        </p:nvSpPr>
        <p:spPr>
          <a:xfrm>
            <a:off x="762000" y="5147220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Комфорт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Безшумний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нічний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та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безпечний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дитячий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режими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  <p:sp>
        <p:nvSpPr>
          <p:cNvPr id="108" name="Google Shape;108;p14"/>
          <p:cNvSpPr txBox="1"/>
          <p:nvPr/>
        </p:nvSpPr>
        <p:spPr>
          <a:xfrm>
            <a:off x="476250" y="476250"/>
            <a:ext cx="11715750" cy="508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1. Резюме Проєкту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476250" y="1099095"/>
            <a:ext cx="11239500" cy="28575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130028"/>
            <a:ext cx="3555950" cy="2849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130028"/>
            <a:ext cx="3555950" cy="2849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59650" y="2130028"/>
            <a:ext cx="3555950" cy="284931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476250" y="5265092"/>
            <a:ext cx="11239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*Спеціальні режими: "Дитячий" (блокування кнопок) та "Нічний" (вимкнення дисплея, &lt;20 дБ).</a:t>
            </a:r>
            <a:endParaRPr/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2425303"/>
            <a:ext cx="29654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97389" y="3073003"/>
            <a:ext cx="3113670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C4A6E"/>
                </a:solidFill>
                <a:latin typeface="Montserrat"/>
                <a:ea typeface="Montserrat"/>
                <a:cs typeface="Montserrat"/>
                <a:sym typeface="Montserrat"/>
              </a:rPr>
              <a:t>Очищення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771525" y="3486298"/>
            <a:ext cx="2965400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HEPA H13 фільтр + Вугільний фільтр. Усуває пил, алергени та запахи. UV-лампа для стерилізації.</a:t>
            </a:r>
            <a:endParaRPr/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13225" y="2425303"/>
            <a:ext cx="29654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4539090" y="3073003"/>
            <a:ext cx="3113670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C4A6E"/>
                </a:solidFill>
                <a:latin typeface="Montserrat"/>
                <a:ea typeface="Montserrat"/>
                <a:cs typeface="Montserrat"/>
                <a:sym typeface="Montserrat"/>
              </a:rPr>
              <a:t>Smart Home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4613225" y="3486298"/>
            <a:ext cx="2965400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Wi-Fi модуль. Керування через додаток. Інтеграція з Google Home/Apple HomeKit.</a:t>
            </a:r>
            <a:endParaRPr/>
          </a:p>
        </p:txBody>
      </p:sp>
      <p:pic>
        <p:nvPicPr>
          <p:cNvPr id="125" name="Google Shape;125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54925" y="2425303"/>
            <a:ext cx="29654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8380790" y="3073003"/>
            <a:ext cx="3113670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C4A6E"/>
                </a:solidFill>
                <a:latin typeface="Montserrat"/>
                <a:ea typeface="Montserrat"/>
                <a:cs typeface="Montserrat"/>
                <a:sym typeface="Montserrat"/>
              </a:rPr>
              <a:t>Моніторинг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8454925" y="3486298"/>
            <a:ext cx="2965400" cy="1035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Вбудовані сенсори якості повітря. Автоматичне регулювання потужності при виявленні забруднень.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476250" y="476250"/>
            <a:ext cx="11715750" cy="508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2. Концепція Продукту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476250" y="1099095"/>
            <a:ext cx="11239500" cy="28575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316063"/>
            <a:ext cx="5381625" cy="325829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476250" y="2563713"/>
            <a:ext cx="5650706" cy="267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4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Цільова Аудиторія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629400" y="2611338"/>
            <a:ext cx="5030628" cy="267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4" b="1" i="0" u="none" strike="noStrike" cap="none">
                <a:solidFill>
                  <a:srgbClr val="9A3412"/>
                </a:solidFill>
                <a:latin typeface="Montserrat"/>
                <a:ea typeface="Montserrat"/>
                <a:cs typeface="Montserrat"/>
                <a:sym typeface="Montserrat"/>
              </a:rPr>
              <a:t>Конкурентні Переваги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629400" y="3069282"/>
            <a:ext cx="47910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На ринку багато очищувачів (Xiaomi, Philips), але ClimaFresh пропонує: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722745" y="3869382"/>
            <a:ext cx="27813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1.</a:t>
            </a:r>
            <a:endParaRPr dirty="0"/>
          </a:p>
        </p:txBody>
      </p:sp>
      <p:sp>
        <p:nvSpPr>
          <p:cNvPr id="140" name="Google Shape;140;p16"/>
          <p:cNvSpPr txBox="1"/>
          <p:nvPr/>
        </p:nvSpPr>
        <p:spPr>
          <a:xfrm>
            <a:off x="6934200" y="3751272"/>
            <a:ext cx="44100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Повноцінний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моніторинг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CO₂ (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рідкість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у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середньому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сегменті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).</a:t>
            </a:r>
            <a:endParaRPr dirty="0"/>
          </a:p>
        </p:txBody>
      </p:sp>
      <p:sp>
        <p:nvSpPr>
          <p:cNvPr id="141" name="Google Shape;141;p16"/>
          <p:cNvSpPr txBox="1"/>
          <p:nvPr/>
        </p:nvSpPr>
        <p:spPr>
          <a:xfrm>
            <a:off x="6722745" y="4605039"/>
            <a:ext cx="27813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2.</a:t>
            </a:r>
            <a:endParaRPr dirty="0"/>
          </a:p>
        </p:txBody>
      </p:sp>
      <p:sp>
        <p:nvSpPr>
          <p:cNvPr id="142" name="Google Shape;142;p16"/>
          <p:cNvSpPr txBox="1"/>
          <p:nvPr/>
        </p:nvSpPr>
        <p:spPr>
          <a:xfrm>
            <a:off x="6934199" y="4523124"/>
            <a:ext cx="44100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Інтегровану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UV-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дезінфекцію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  <p:sp>
        <p:nvSpPr>
          <p:cNvPr id="143" name="Google Shape;143;p16"/>
          <p:cNvSpPr txBox="1"/>
          <p:nvPr/>
        </p:nvSpPr>
        <p:spPr>
          <a:xfrm>
            <a:off x="6722745" y="4974282"/>
            <a:ext cx="27813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3.</a:t>
            </a:r>
            <a:endParaRPr dirty="0"/>
          </a:p>
        </p:txBody>
      </p:sp>
      <p:sp>
        <p:nvSpPr>
          <p:cNvPr id="144" name="Google Shape;144;p16"/>
          <p:cNvSpPr txBox="1"/>
          <p:nvPr/>
        </p:nvSpPr>
        <p:spPr>
          <a:xfrm>
            <a:off x="6934199" y="4921432"/>
            <a:ext cx="44100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Українську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локалізацію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та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сервіс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  <p:pic>
        <p:nvPicPr>
          <p:cNvPr id="145" name="Google Shape;14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9100" y="304087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847725" y="3021657"/>
            <a:ext cx="44862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Молоді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сім'ї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(25–40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років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Піклуються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про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здоров'я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дітей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та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безпеку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в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домі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  <p:pic>
        <p:nvPicPr>
          <p:cNvPr id="147" name="Google Shape;14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9100" y="402178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847725" y="3936384"/>
            <a:ext cx="4343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Алергіки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та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астматики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Критична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потреба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в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чистому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повітрі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без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пилку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  <p:pic>
        <p:nvPicPr>
          <p:cNvPr id="149" name="Google Shape;14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19100" y="4974282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881063" y="4892694"/>
            <a:ext cx="3810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Жителі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мегаполісів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Високий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рівень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забруднення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(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смог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, CO₂).</a:t>
            </a:r>
            <a:endParaRPr dirty="0"/>
          </a:p>
        </p:txBody>
      </p:sp>
      <p:sp>
        <p:nvSpPr>
          <p:cNvPr id="151" name="Google Shape;151;p16"/>
          <p:cNvSpPr txBox="1"/>
          <p:nvPr/>
        </p:nvSpPr>
        <p:spPr>
          <a:xfrm>
            <a:off x="476250" y="476250"/>
            <a:ext cx="11715750" cy="508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3. Аналіз Ринку</a:t>
            </a: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476250" y="1099095"/>
            <a:ext cx="11239500" cy="28575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589014"/>
            <a:ext cx="3555950" cy="2712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589014"/>
            <a:ext cx="3555950" cy="2712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59650" y="2589014"/>
            <a:ext cx="3555950" cy="2712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2884289"/>
            <a:ext cx="29654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697389" y="3531989"/>
            <a:ext cx="3113670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Ціна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771525" y="3945284"/>
            <a:ext cx="2965400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$150 – $200 USD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476250" y="4366170"/>
            <a:ext cx="354642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Середній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+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сегмент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Доступний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преміум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функціонал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2000" dirty="0"/>
          </a:p>
        </p:txBody>
      </p:sp>
      <p:pic>
        <p:nvPicPr>
          <p:cNvPr id="165" name="Google Shape;165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13225" y="2884289"/>
            <a:ext cx="29654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4539090" y="3531989"/>
            <a:ext cx="3113670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BE185D"/>
                </a:solidFill>
                <a:latin typeface="Montserrat"/>
                <a:ea typeface="Montserrat"/>
                <a:cs typeface="Montserrat"/>
                <a:sym typeface="Montserrat"/>
              </a:rPr>
              <a:t>Дистрибуція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4613225" y="4357413"/>
            <a:ext cx="2965400" cy="935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Онлайн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(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Rozetka</a:t>
            </a:r>
            <a:r>
              <a:rPr lang="uk-UA" sz="1800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) та м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агазини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електроніки</a:t>
            </a:r>
            <a:r>
              <a:rPr lang="uk-UA" sz="2000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2400" dirty="0"/>
          </a:p>
        </p:txBody>
      </p:sp>
      <p:pic>
        <p:nvPicPr>
          <p:cNvPr id="168" name="Google Shape;168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54925" y="2884289"/>
            <a:ext cx="29654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8380790" y="3531989"/>
            <a:ext cx="3113670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A16207"/>
                </a:solidFill>
                <a:latin typeface="Montserrat"/>
                <a:ea typeface="Montserrat"/>
                <a:cs typeface="Montserrat"/>
                <a:sym typeface="Montserrat"/>
              </a:rPr>
              <a:t>Просування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8169174" y="3935759"/>
            <a:ext cx="3546425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Співпраця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з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педіатрами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та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блогерами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(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здоров'я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материнство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  <p:sp>
        <p:nvSpPr>
          <p:cNvPr id="171" name="Google Shape;171;p17"/>
          <p:cNvSpPr txBox="1"/>
          <p:nvPr/>
        </p:nvSpPr>
        <p:spPr>
          <a:xfrm>
            <a:off x="476250" y="476250"/>
            <a:ext cx="11715750" cy="508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4. Маркетингова Стратегія</a:t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476250" y="1099095"/>
            <a:ext cx="11239500" cy="28575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3662063"/>
            <a:ext cx="2135385" cy="2384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52278" y="3662064"/>
            <a:ext cx="2135385" cy="2384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28307" y="3662064"/>
            <a:ext cx="2135385" cy="2384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04335" y="3662064"/>
            <a:ext cx="2135385" cy="2384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80364" y="3662064"/>
            <a:ext cx="2135385" cy="238440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 txBox="1"/>
          <p:nvPr/>
        </p:nvSpPr>
        <p:spPr>
          <a:xfrm>
            <a:off x="476250" y="2690514"/>
            <a:ext cx="11239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Термін розробки та виходу на ринок: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105 робочих днів</a:t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952500" y="3804939"/>
            <a:ext cx="10287000" cy="38100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1401067" y="3662064"/>
            <a:ext cx="285750" cy="285750"/>
          </a:xfrm>
          <a:prstGeom prst="roundRect">
            <a:avLst>
              <a:gd name="adj" fmla="val 16667"/>
            </a:avLst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 txBox="1"/>
          <p:nvPr/>
        </p:nvSpPr>
        <p:spPr>
          <a:xfrm>
            <a:off x="523875" y="4138314"/>
            <a:ext cx="204013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284C7"/>
                </a:solidFill>
                <a:latin typeface="Open Sans"/>
                <a:ea typeface="Open Sans"/>
                <a:cs typeface="Open Sans"/>
                <a:sym typeface="Open Sans"/>
              </a:rPr>
              <a:t>15 днів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472871" y="4429720"/>
            <a:ext cx="2142142" cy="267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4" b="1" i="0" u="none" strike="noStrike" cap="none">
                <a:solidFill>
                  <a:srgbClr val="0C4A6E"/>
                </a:solidFill>
                <a:latin typeface="Montserrat"/>
                <a:ea typeface="Montserrat"/>
                <a:cs typeface="Montserrat"/>
                <a:sym typeface="Montserrat"/>
              </a:rPr>
              <a:t>Дизайн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523875" y="4830514"/>
            <a:ext cx="204013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Концепт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корпусу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аеродинаміка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2800" dirty="0"/>
          </a:p>
        </p:txBody>
      </p:sp>
      <p:sp>
        <p:nvSpPr>
          <p:cNvPr id="189" name="Google Shape;189;p18"/>
          <p:cNvSpPr/>
          <p:nvPr/>
        </p:nvSpPr>
        <p:spPr>
          <a:xfrm>
            <a:off x="3677096" y="3662064"/>
            <a:ext cx="285750" cy="285750"/>
          </a:xfrm>
          <a:prstGeom prst="roundRect">
            <a:avLst>
              <a:gd name="adj" fmla="val 16667"/>
            </a:avLst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2799903" y="4138314"/>
            <a:ext cx="204013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284C7"/>
                </a:solidFill>
                <a:latin typeface="Open Sans"/>
                <a:ea typeface="Open Sans"/>
                <a:cs typeface="Open Sans"/>
                <a:sym typeface="Open Sans"/>
              </a:rPr>
              <a:t>30 днів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2748900" y="4429720"/>
            <a:ext cx="2142142" cy="267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4" b="1" i="0" u="none" strike="noStrike" cap="none">
                <a:solidFill>
                  <a:srgbClr val="0C4A6E"/>
                </a:solidFill>
                <a:latin typeface="Montserrat"/>
                <a:ea typeface="Montserrat"/>
                <a:cs typeface="Montserrat"/>
                <a:sym typeface="Montserrat"/>
              </a:rPr>
              <a:t>Інженерія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2799903" y="4830514"/>
            <a:ext cx="204013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Розробка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підбір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датчиків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2800" dirty="0"/>
          </a:p>
        </p:txBody>
      </p:sp>
      <p:sp>
        <p:nvSpPr>
          <p:cNvPr id="193" name="Google Shape;193;p18"/>
          <p:cNvSpPr/>
          <p:nvPr/>
        </p:nvSpPr>
        <p:spPr>
          <a:xfrm>
            <a:off x="5953125" y="3662064"/>
            <a:ext cx="285750" cy="285750"/>
          </a:xfrm>
          <a:prstGeom prst="roundRect">
            <a:avLst>
              <a:gd name="adj" fmla="val 16667"/>
            </a:avLst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5075932" y="4138314"/>
            <a:ext cx="204013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284C7"/>
                </a:solidFill>
                <a:latin typeface="Open Sans"/>
                <a:ea typeface="Open Sans"/>
                <a:cs typeface="Open Sans"/>
                <a:sym typeface="Open Sans"/>
              </a:rPr>
              <a:t>45 днів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5024928" y="4429720"/>
            <a:ext cx="2142142" cy="267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4" b="1" i="0" u="none" strike="noStrike" cap="none">
                <a:solidFill>
                  <a:srgbClr val="0C4A6E"/>
                </a:solidFill>
                <a:latin typeface="Montserrat"/>
                <a:ea typeface="Montserrat"/>
                <a:cs typeface="Montserrat"/>
                <a:sym typeface="Montserrat"/>
              </a:rPr>
              <a:t>Прототип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5075932" y="4830514"/>
            <a:ext cx="204013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Збірка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написання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прошивки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2800" dirty="0"/>
          </a:p>
        </p:txBody>
      </p:sp>
      <p:sp>
        <p:nvSpPr>
          <p:cNvPr id="197" name="Google Shape;197;p18"/>
          <p:cNvSpPr/>
          <p:nvPr/>
        </p:nvSpPr>
        <p:spPr>
          <a:xfrm>
            <a:off x="8229153" y="3662064"/>
            <a:ext cx="285750" cy="285750"/>
          </a:xfrm>
          <a:prstGeom prst="roundRect">
            <a:avLst>
              <a:gd name="adj" fmla="val 16667"/>
            </a:avLst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7351960" y="4138314"/>
            <a:ext cx="204013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284C7"/>
                </a:solidFill>
                <a:latin typeface="Open Sans"/>
                <a:ea typeface="Open Sans"/>
                <a:cs typeface="Open Sans"/>
                <a:sym typeface="Open Sans"/>
              </a:rPr>
              <a:t>15 днів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7300957" y="4429720"/>
            <a:ext cx="2142142" cy="267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4" b="1" i="0" u="none" strike="noStrike" cap="none">
                <a:solidFill>
                  <a:srgbClr val="0C4A6E"/>
                </a:solidFill>
                <a:latin typeface="Montserrat"/>
                <a:ea typeface="Montserrat"/>
                <a:cs typeface="Montserrat"/>
                <a:sym typeface="Montserrat"/>
              </a:rPr>
              <a:t>Тести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7351960" y="4830514"/>
            <a:ext cx="204013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Сертифікація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безпеки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UV.</a:t>
            </a:r>
            <a:endParaRPr sz="2800" dirty="0"/>
          </a:p>
        </p:txBody>
      </p:sp>
      <p:sp>
        <p:nvSpPr>
          <p:cNvPr id="201" name="Google Shape;201;p18"/>
          <p:cNvSpPr/>
          <p:nvPr/>
        </p:nvSpPr>
        <p:spPr>
          <a:xfrm>
            <a:off x="10505182" y="3662064"/>
            <a:ext cx="285750" cy="285750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9627989" y="4138314"/>
            <a:ext cx="204013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59669"/>
                </a:solidFill>
                <a:latin typeface="Open Sans"/>
                <a:ea typeface="Open Sans"/>
                <a:cs typeface="Open Sans"/>
                <a:sym typeface="Open Sans"/>
              </a:rPr>
              <a:t>Старт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9576985" y="4429720"/>
            <a:ext cx="2142142" cy="267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4" b="1" i="0" u="none" strike="noStrike" cap="none">
                <a:solidFill>
                  <a:srgbClr val="0C4A6E"/>
                </a:solidFill>
                <a:latin typeface="Montserrat"/>
                <a:ea typeface="Montserrat"/>
                <a:cs typeface="Montserrat"/>
                <a:sym typeface="Montserrat"/>
              </a:rPr>
              <a:t>Виробництво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9627989" y="4830514"/>
            <a:ext cx="204013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Масовий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випуск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2800" dirty="0"/>
          </a:p>
        </p:txBody>
      </p:sp>
      <p:sp>
        <p:nvSpPr>
          <p:cNvPr id="205" name="Google Shape;205;p18"/>
          <p:cNvSpPr txBox="1"/>
          <p:nvPr/>
        </p:nvSpPr>
        <p:spPr>
          <a:xfrm>
            <a:off x="476250" y="476250"/>
            <a:ext cx="11715750" cy="508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5. Операційний План (R&amp;D)</a:t>
            </a:r>
            <a:endParaRPr/>
          </a:p>
        </p:txBody>
      </p:sp>
      <p:sp>
        <p:nvSpPr>
          <p:cNvPr id="206" name="Google Shape;206;p18"/>
          <p:cNvSpPr/>
          <p:nvPr/>
        </p:nvSpPr>
        <p:spPr>
          <a:xfrm>
            <a:off x="476250" y="1099095"/>
            <a:ext cx="11239500" cy="28575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511498"/>
            <a:ext cx="5381625" cy="486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24625" y="3416944"/>
            <a:ext cx="5000625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24625" y="4245619"/>
            <a:ext cx="5000625" cy="685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5" name="Google Shape;215;p19"/>
          <p:cNvGraphicFramePr/>
          <p:nvPr/>
        </p:nvGraphicFramePr>
        <p:xfrm>
          <a:off x="485775" y="1521023"/>
          <a:ext cx="5362575" cy="4848175"/>
        </p:xfrm>
        <a:graphic>
          <a:graphicData uri="http://schemas.openxmlformats.org/drawingml/2006/table">
            <a:tbl>
              <a:tblPr firstRow="1" bandRow="1">
                <a:noFill/>
                <a:tableStyleId>{91603A20-9158-4839-B76F-91BCBE799FEB}</a:tableStyleId>
              </a:tblPr>
              <a:tblGrid>
                <a:gridCol w="349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8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284C7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Стаття витрат (R&amp;D)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284C7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Вартість (USD)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8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Розробка КД та Прототипу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$40,000 – 60,000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8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Компоненти (Датчики, UV)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$8,000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8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Сертифікація (Медична/Побутова)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$12,000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8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Маркетинг (Старт)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$5,000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8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РАЗОМ Інвестиції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369A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$65,000 – 85,000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6" name="Google Shape;216;p19"/>
          <p:cNvSpPr txBox="1"/>
          <p:nvPr/>
        </p:nvSpPr>
        <p:spPr>
          <a:xfrm>
            <a:off x="6524625" y="2959000"/>
            <a:ext cx="5250656" cy="267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4" b="1" i="0" u="none" strike="noStrike" cap="none">
                <a:solidFill>
                  <a:srgbClr val="0C4A6E"/>
                </a:solidFill>
                <a:latin typeface="Montserrat"/>
                <a:ea typeface="Montserrat"/>
                <a:cs typeface="Montserrat"/>
                <a:sym typeface="Montserrat"/>
              </a:rPr>
              <a:t>Прогноз (Рік 1)</a:t>
            </a:r>
            <a:endParaRPr/>
          </a:p>
        </p:txBody>
      </p:sp>
      <p:sp>
        <p:nvSpPr>
          <p:cNvPr id="217" name="Google Shape;217;p19"/>
          <p:cNvSpPr/>
          <p:nvPr/>
        </p:nvSpPr>
        <p:spPr>
          <a:xfrm>
            <a:off x="485775" y="2163960"/>
            <a:ext cx="349656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3982342" y="2163960"/>
            <a:ext cx="186600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 txBox="1"/>
          <p:nvPr/>
        </p:nvSpPr>
        <p:spPr>
          <a:xfrm>
            <a:off x="6597846" y="3551365"/>
            <a:ext cx="17621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Ціль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продажів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 dirty="0"/>
          </a:p>
        </p:txBody>
      </p:sp>
      <p:sp>
        <p:nvSpPr>
          <p:cNvPr id="220" name="Google Shape;220;p19"/>
          <p:cNvSpPr txBox="1"/>
          <p:nvPr/>
        </p:nvSpPr>
        <p:spPr>
          <a:xfrm>
            <a:off x="6597846" y="4375903"/>
            <a:ext cx="196215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Очікуваний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дохід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 dirty="0"/>
          </a:p>
        </p:txBody>
      </p:sp>
      <p:sp>
        <p:nvSpPr>
          <p:cNvPr id="221" name="Google Shape;221;p19"/>
          <p:cNvSpPr/>
          <p:nvPr/>
        </p:nvSpPr>
        <p:spPr>
          <a:xfrm>
            <a:off x="485775" y="3125985"/>
            <a:ext cx="349656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3982342" y="3125985"/>
            <a:ext cx="186600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485775" y="3783210"/>
            <a:ext cx="349656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3982342" y="3783210"/>
            <a:ext cx="186600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485775" y="4745235"/>
            <a:ext cx="349656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3982342" y="4745235"/>
            <a:ext cx="186600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485775" y="5402460"/>
            <a:ext cx="349656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3982342" y="5402460"/>
            <a:ext cx="186600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 txBox="1"/>
          <p:nvPr/>
        </p:nvSpPr>
        <p:spPr>
          <a:xfrm>
            <a:off x="476250" y="476250"/>
            <a:ext cx="11715750" cy="508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7. Фінансовий План</a:t>
            </a:r>
            <a:endParaRPr/>
          </a:p>
        </p:txBody>
      </p:sp>
      <p:sp>
        <p:nvSpPr>
          <p:cNvPr id="230" name="Google Shape;230;p19"/>
          <p:cNvSpPr/>
          <p:nvPr/>
        </p:nvSpPr>
        <p:spPr>
          <a:xfrm>
            <a:off x="476250" y="1099095"/>
            <a:ext cx="11239500" cy="28575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508670"/>
            <a:ext cx="11239500" cy="4873079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0"/>
          <p:cNvSpPr txBox="1"/>
          <p:nvPr/>
        </p:nvSpPr>
        <p:spPr>
          <a:xfrm>
            <a:off x="476250" y="5269110"/>
            <a:ext cx="1123950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Висока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маржинальність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досягається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за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рахунок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оптимізації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виробництва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та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прямих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онлайн-продажів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2000" dirty="0"/>
          </a:p>
        </p:txBody>
      </p:sp>
      <p:sp>
        <p:nvSpPr>
          <p:cNvPr id="238" name="Google Shape;238;p20"/>
          <p:cNvSpPr txBox="1"/>
          <p:nvPr/>
        </p:nvSpPr>
        <p:spPr>
          <a:xfrm>
            <a:off x="476250" y="476250"/>
            <a:ext cx="11715750" cy="508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Економіка Одиниці (Unit Economics)</a:t>
            </a:r>
            <a:endParaRPr/>
          </a:p>
        </p:txBody>
      </p:sp>
      <p:sp>
        <p:nvSpPr>
          <p:cNvPr id="239" name="Google Shape;239;p20"/>
          <p:cNvSpPr/>
          <p:nvPr/>
        </p:nvSpPr>
        <p:spPr>
          <a:xfrm>
            <a:off x="476250" y="1099095"/>
            <a:ext cx="11239500" cy="28575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650033"/>
            <a:ext cx="2595562" cy="3299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57562" y="2650033"/>
            <a:ext cx="2595562" cy="3299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2650033"/>
            <a:ext cx="2595562" cy="3270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20187" y="2650033"/>
            <a:ext cx="2595562" cy="3242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1525" y="2945308"/>
            <a:ext cx="2005012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1"/>
          <p:cNvSpPr txBox="1"/>
          <p:nvPr/>
        </p:nvSpPr>
        <p:spPr>
          <a:xfrm>
            <a:off x="721399" y="3593008"/>
            <a:ext cx="2105263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C4A6E"/>
                </a:solidFill>
                <a:latin typeface="Montserrat"/>
                <a:ea typeface="Montserrat"/>
                <a:cs typeface="Montserrat"/>
                <a:sym typeface="Montserrat"/>
              </a:rPr>
              <a:t>CEO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476250" y="4232049"/>
            <a:ext cx="2586037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Стратегічне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управління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залучення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інвестицій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1800" dirty="0"/>
          </a:p>
        </p:txBody>
      </p:sp>
      <p:pic>
        <p:nvPicPr>
          <p:cNvPr id="252" name="Google Shape;252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652837" y="2945308"/>
            <a:ext cx="2005012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1"/>
          <p:cNvSpPr txBox="1"/>
          <p:nvPr/>
        </p:nvSpPr>
        <p:spPr>
          <a:xfrm>
            <a:off x="3602712" y="3593008"/>
            <a:ext cx="2105263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C4A6E"/>
                </a:solidFill>
                <a:latin typeface="Montserrat"/>
                <a:ea typeface="Montserrat"/>
                <a:cs typeface="Montserrat"/>
                <a:sym typeface="Montserrat"/>
              </a:rPr>
              <a:t>R&amp;D Lead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3376612" y="4192255"/>
            <a:ext cx="2576512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Розробка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електроніки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інтеграція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IoT,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тестування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1800" dirty="0"/>
          </a:p>
        </p:txBody>
      </p:sp>
      <p:pic>
        <p:nvPicPr>
          <p:cNvPr id="255" name="Google Shape;255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34150" y="2945308"/>
            <a:ext cx="2005012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1"/>
          <p:cNvSpPr txBox="1"/>
          <p:nvPr/>
        </p:nvSpPr>
        <p:spPr>
          <a:xfrm>
            <a:off x="6484024" y="3593008"/>
            <a:ext cx="2105263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C4A6E"/>
                </a:solidFill>
                <a:latin typeface="Montserrat"/>
                <a:ea typeface="Montserrat"/>
                <a:cs typeface="Montserrat"/>
                <a:sym typeface="Montserrat"/>
              </a:rPr>
              <a:t>Дизайнер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6248399" y="4232049"/>
            <a:ext cx="2586038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Промисловий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дизайн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, UI/UX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мобільного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додатку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  <p:pic>
        <p:nvPicPr>
          <p:cNvPr id="258" name="Google Shape;258;p2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415462" y="2945308"/>
            <a:ext cx="2005012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1"/>
          <p:cNvSpPr txBox="1"/>
          <p:nvPr/>
        </p:nvSpPr>
        <p:spPr>
          <a:xfrm>
            <a:off x="9365337" y="3593008"/>
            <a:ext cx="2105263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C4A6E"/>
                </a:solidFill>
                <a:latin typeface="Montserrat"/>
                <a:ea typeface="Montserrat"/>
                <a:cs typeface="Montserrat"/>
                <a:sym typeface="Montserrat"/>
              </a:rPr>
              <a:t>Маркетолог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9120187" y="4285386"/>
            <a:ext cx="2586038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Digital-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маркетинг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робота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з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інфлюенсерами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  <p:sp>
        <p:nvSpPr>
          <p:cNvPr id="261" name="Google Shape;261;p21"/>
          <p:cNvSpPr txBox="1"/>
          <p:nvPr/>
        </p:nvSpPr>
        <p:spPr>
          <a:xfrm>
            <a:off x="476250" y="476250"/>
            <a:ext cx="11715750" cy="508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6. Команда Проєкту</a:t>
            </a:r>
            <a:endParaRPr/>
          </a:p>
        </p:txBody>
      </p:sp>
      <p:sp>
        <p:nvSpPr>
          <p:cNvPr id="262" name="Google Shape;262;p21"/>
          <p:cNvSpPr/>
          <p:nvPr/>
        </p:nvSpPr>
        <p:spPr>
          <a:xfrm>
            <a:off x="476250" y="1099095"/>
            <a:ext cx="11239500" cy="28575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451</Words>
  <Application>Microsoft Office PowerPoint</Application>
  <PresentationFormat>Широкий екран</PresentationFormat>
  <Paragraphs>81</Paragraphs>
  <Slides>9</Slides>
  <Notes>9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9</vt:i4>
      </vt:variant>
    </vt:vector>
  </HeadingPairs>
  <TitlesOfParts>
    <vt:vector size="14" baseType="lpstr">
      <vt:lpstr>Montserrat</vt:lpstr>
      <vt:lpstr>Open Sans</vt:lpstr>
      <vt:lpstr>Calibri</vt:lpstr>
      <vt:lpstr>Arial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natalie mukha</cp:lastModifiedBy>
  <cp:revision>1</cp:revision>
  <dcterms:modified xsi:type="dcterms:W3CDTF">2025-12-04T08:50:26Z</dcterms:modified>
</cp:coreProperties>
</file>