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Inter" panose="020B0604020202020204" charset="0"/>
      <p:regular r:id="rId14"/>
      <p:bold r:id="rId15"/>
      <p:italic r:id="rId16"/>
      <p:boldItalic r:id="rId17"/>
    </p:embeddedFont>
    <p:embeddedFont>
      <p:font typeface="Oswald" panose="00000500000000000000" pitchFamily="2" charset="-52"/>
      <p:regular r:id="rId18"/>
      <p:bold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1190" y="2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alie mukha" userId="11b5122d0ff3b101" providerId="LiveId" clId="{522B37DC-86BD-4E45-93D5-3D7A3EF8228B}"/>
    <pc:docChg chg="undo custSel delSld modSld">
      <pc:chgData name="natalie mukha" userId="11b5122d0ff3b101" providerId="LiveId" clId="{522B37DC-86BD-4E45-93D5-3D7A3EF8228B}" dt="2025-12-03T18:39:26.204" v="16" actId="2696"/>
      <pc:docMkLst>
        <pc:docMk/>
      </pc:docMkLst>
      <pc:sldChg chg="modSp mod">
        <pc:chgData name="natalie mukha" userId="11b5122d0ff3b101" providerId="LiveId" clId="{522B37DC-86BD-4E45-93D5-3D7A3EF8228B}" dt="2025-12-03T18:36:54.065" v="5" actId="14100"/>
        <pc:sldMkLst>
          <pc:docMk/>
          <pc:sldMk cId="0" sldId="262"/>
        </pc:sldMkLst>
        <pc:spChg chg="mod">
          <ac:chgData name="natalie mukha" userId="11b5122d0ff3b101" providerId="LiveId" clId="{522B37DC-86BD-4E45-93D5-3D7A3EF8228B}" dt="2025-12-03T18:36:42.173" v="3" actId="1076"/>
          <ac:spMkLst>
            <pc:docMk/>
            <pc:sldMk cId="0" sldId="262"/>
            <ac:spMk id="170" creationId="{00000000-0000-0000-0000-000000000000}"/>
          </ac:spMkLst>
        </pc:spChg>
        <pc:picChg chg="mod">
          <ac:chgData name="natalie mukha" userId="11b5122d0ff3b101" providerId="LiveId" clId="{522B37DC-86BD-4E45-93D5-3D7A3EF8228B}" dt="2025-12-03T18:36:54.065" v="5" actId="14100"/>
          <ac:picMkLst>
            <pc:docMk/>
            <pc:sldMk cId="0" sldId="262"/>
            <ac:picMk id="169" creationId="{00000000-0000-0000-0000-000000000000}"/>
          </ac:picMkLst>
        </pc:picChg>
      </pc:sldChg>
      <pc:sldChg chg="addSp modSp mod">
        <pc:chgData name="natalie mukha" userId="11b5122d0ff3b101" providerId="LiveId" clId="{522B37DC-86BD-4E45-93D5-3D7A3EF8228B}" dt="2025-12-03T18:38:43.830" v="14" actId="14100"/>
        <pc:sldMkLst>
          <pc:docMk/>
          <pc:sldMk cId="0" sldId="263"/>
        </pc:sldMkLst>
        <pc:picChg chg="add mod">
          <ac:chgData name="natalie mukha" userId="11b5122d0ff3b101" providerId="LiveId" clId="{522B37DC-86BD-4E45-93D5-3D7A3EF8228B}" dt="2025-12-03T18:38:43.830" v="14" actId="14100"/>
          <ac:picMkLst>
            <pc:docMk/>
            <pc:sldMk cId="0" sldId="263"/>
            <ac:picMk id="3" creationId="{F4FA8021-A754-0427-FA6D-0350AAB91D0B}"/>
          </ac:picMkLst>
        </pc:picChg>
        <pc:picChg chg="mod">
          <ac:chgData name="natalie mukha" userId="11b5122d0ff3b101" providerId="LiveId" clId="{522B37DC-86BD-4E45-93D5-3D7A3EF8228B}" dt="2025-12-03T18:37:08.588" v="7" actId="14100"/>
          <ac:picMkLst>
            <pc:docMk/>
            <pc:sldMk cId="0" sldId="263"/>
            <ac:picMk id="179" creationId="{00000000-0000-0000-0000-000000000000}"/>
          </ac:picMkLst>
        </pc:picChg>
      </pc:sldChg>
      <pc:sldChg chg="del">
        <pc:chgData name="natalie mukha" userId="11b5122d0ff3b101" providerId="LiveId" clId="{522B37DC-86BD-4E45-93D5-3D7A3EF8228B}" dt="2025-12-03T18:39:23.305" v="15" actId="2696"/>
        <pc:sldMkLst>
          <pc:docMk/>
          <pc:sldMk cId="0" sldId="267"/>
        </pc:sldMkLst>
      </pc:sldChg>
      <pc:sldChg chg="del">
        <pc:chgData name="natalie mukha" userId="11b5122d0ff3b101" providerId="LiveId" clId="{522B37DC-86BD-4E45-93D5-3D7A3EF8228B}" dt="2025-12-03T18:39:26.204" v="16" actId="2696"/>
        <pc:sldMkLst>
          <pc:docMk/>
          <pc:sldMk cId="0" sldId="26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4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4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 r="7705" b="11413"/>
          <a:stretch>
            <a:fillRect/>
          </a:stretch>
        </p:blipFill>
        <p:spPr>
          <a:xfrm>
            <a:off x="-80010" y="-102869"/>
            <a:ext cx="12272010" cy="6960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09925" y="1848891"/>
            <a:ext cx="5772150" cy="3160216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3575685" y="2334666"/>
            <a:ext cx="5040630" cy="1123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F172A"/>
                </a:solidFill>
                <a:latin typeface="Oswald"/>
                <a:ea typeface="Oswald"/>
                <a:cs typeface="Oswald"/>
                <a:sym typeface="Oswald"/>
              </a:rPr>
              <a:t>CLIMAFRESH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695700" y="3649116"/>
            <a:ext cx="48006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Інноваційна екосистема чистого повітря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Бізнес-план проєкту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3320653" y="2771775"/>
            <a:ext cx="5550693" cy="1019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0F172A"/>
                </a:solidFill>
                <a:latin typeface="Oswald"/>
                <a:ea typeface="Oswald"/>
                <a:cs typeface="Oswald"/>
                <a:sym typeface="Oswald"/>
              </a:rPr>
              <a:t>РЕЗЮМЕ ПРОЄКТУ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3452812" y="3981450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Місія: Забезпечити здорову атмосферу в кожному домі.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33650"/>
            <a:ext cx="5286375" cy="298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533650"/>
            <a:ext cx="5286375" cy="298132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962025" y="2924175"/>
            <a:ext cx="4730591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369A1"/>
                </a:solidFill>
                <a:latin typeface="Oswald"/>
                <a:ea typeface="Oswald"/>
                <a:cs typeface="Oswald"/>
                <a:sym typeface="Oswald"/>
              </a:rPr>
              <a:t>ПРОБЛЕМА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962025" y="3457575"/>
            <a:ext cx="4505325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Забруднення повітря в містах перевищує норми ВООЗ. Пил, алергени та віруси всередині приміщень накопичуються в 2-5 разів інтенсивніше, ніж ззовні. Це загрожує здоров'ю дітей та алергіків.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6724650" y="2924175"/>
            <a:ext cx="4730591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369A1"/>
                </a:solidFill>
                <a:latin typeface="Oswald"/>
                <a:ea typeface="Oswald"/>
                <a:cs typeface="Oswald"/>
                <a:sym typeface="Oswald"/>
              </a:rPr>
              <a:t>РІШЕННЯ: CLIMAFRESH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6724650" y="3457575"/>
            <a:ext cx="4505325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Автоматизований розумний очищувач, який не просто фільтрує, а дезінфікує повітря. Поєднання HEPA-фільтрації, UV-C технологій та IoT-керування створює безпечний мікроклімат.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571500" y="571500"/>
            <a:ext cx="11601450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Oswald"/>
                <a:ea typeface="Oswald"/>
                <a:cs typeface="Oswald"/>
                <a:sym typeface="Oswald"/>
              </a:rPr>
              <a:t>ПРОБЛЕМА ТА РІШЕННЯ</a:t>
            </a:r>
            <a:endParaRPr/>
          </a:p>
        </p:txBody>
      </p:sp>
      <p:sp>
        <p:nvSpPr>
          <p:cNvPr id="107" name="Google Shape;107;p15"/>
          <p:cNvSpPr/>
          <p:nvPr/>
        </p:nvSpPr>
        <p:spPr>
          <a:xfrm>
            <a:off x="571500" y="1343025"/>
            <a:ext cx="11049000" cy="381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6"/>
          <p:cNvSpPr txBox="1"/>
          <p:nvPr/>
        </p:nvSpPr>
        <p:spPr>
          <a:xfrm>
            <a:off x="571500" y="1338262"/>
            <a:ext cx="5550693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Oswald"/>
                <a:ea typeface="Oswald"/>
                <a:cs typeface="Oswald"/>
                <a:sym typeface="Oswald"/>
              </a:rPr>
              <a:t>КОНЦЕПЦІЯ ПРОДУКТУ</a:t>
            </a:r>
            <a:endParaRPr/>
          </a:p>
        </p:txBody>
      </p:sp>
      <p:sp>
        <p:nvSpPr>
          <p:cNvPr id="114" name="Google Shape;114;p16"/>
          <p:cNvSpPr/>
          <p:nvPr/>
        </p:nvSpPr>
        <p:spPr>
          <a:xfrm>
            <a:off x="571500" y="2109787"/>
            <a:ext cx="5286375" cy="381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" name="Google Shape;11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 txBox="1"/>
          <p:nvPr/>
        </p:nvSpPr>
        <p:spPr>
          <a:xfrm>
            <a:off x="571500" y="2528887"/>
            <a:ext cx="5550693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369A1"/>
                </a:solidFill>
                <a:latin typeface="Oswald"/>
                <a:ea typeface="Oswald"/>
                <a:cs typeface="Oswald"/>
                <a:sym typeface="Oswald"/>
              </a:rPr>
              <a:t>3-РІВНЕВА ОЧИСТКА + UV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571500" y="4767262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Smart-функції: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Автоматичне реагування на забруднення завдяки лазерним датчикам.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657225" y="307181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762000" y="3071812"/>
            <a:ext cx="5095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Pre-filter: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Затримує шерсть та великий пил.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657225" y="347186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762000" y="3471862"/>
            <a:ext cx="5095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HEPA H13: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Фільтрує 99.97% частинок (PM2.5).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657225" y="387191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762000" y="3871912"/>
            <a:ext cx="5095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Carbon Filter: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Нейтралізує запахи та гази (VOC).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657225" y="427196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762000" y="4271962"/>
            <a:ext cx="5095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UV-C лампа: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Знищує бактерії та віруси.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05025"/>
            <a:ext cx="3492549" cy="383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105025"/>
            <a:ext cx="3492549" cy="383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105025"/>
            <a:ext cx="3492549" cy="383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889075" y="2400300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/>
          <p:cNvSpPr txBox="1"/>
          <p:nvPr/>
        </p:nvSpPr>
        <p:spPr>
          <a:xfrm>
            <a:off x="1562606" y="3448050"/>
            <a:ext cx="1510188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369A1"/>
                </a:solidFill>
                <a:latin typeface="Oswald"/>
                <a:ea typeface="Oswald"/>
                <a:cs typeface="Oswald"/>
                <a:sym typeface="Oswald"/>
              </a:rPr>
              <a:t>SMART HOME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866775" y="3981450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Повна інтеграція через Wi-Fi. Керування голосом, розклад роботи та моніторинг якості повітря в реальному часі через додаток.</a:t>
            </a:r>
            <a:endParaRPr/>
          </a:p>
        </p:txBody>
      </p:sp>
      <p:pic>
        <p:nvPicPr>
          <p:cNvPr id="137" name="Google Shape;137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667375" y="2400300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/>
        </p:nvSpPr>
        <p:spPr>
          <a:xfrm>
            <a:off x="5155882" y="3448050"/>
            <a:ext cx="1880235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369A1"/>
                </a:solidFill>
                <a:latin typeface="Oswald"/>
                <a:ea typeface="Oswald"/>
                <a:cs typeface="Oswald"/>
                <a:sym typeface="Oswald"/>
              </a:rPr>
              <a:t>НІЧНИЙ РЕЖИМ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4645074" y="3981450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Ультра-тиха робота (до 25 дБ) та відключення підсвітки дисплея для комфортного сну всієї родини.</a:t>
            </a:r>
            <a:endParaRPr/>
          </a:p>
        </p:txBody>
      </p:sp>
      <p:pic>
        <p:nvPicPr>
          <p:cNvPr id="140" name="Google Shape;140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445674" y="2400300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9349233" y="3448050"/>
            <a:ext cx="1050131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369A1"/>
                </a:solidFill>
                <a:latin typeface="Oswald"/>
                <a:ea typeface="Oswald"/>
                <a:cs typeface="Oswald"/>
                <a:sym typeface="Oswald"/>
              </a:rPr>
              <a:t>БЕЗПЕКА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8423374" y="3981450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Блокування від дітей ("Child Lock"), датчики CO2 та автоматичне вимкнення UV-лампи при відкритті корпусу.</a:t>
            </a:r>
            <a:endParaRPr/>
          </a:p>
        </p:txBody>
      </p:sp>
      <p:pic>
        <p:nvPicPr>
          <p:cNvPr id="143" name="Google Shape;143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146250" y="2600325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924550" y="2600325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645699" y="260032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 txBox="1"/>
          <p:nvPr/>
        </p:nvSpPr>
        <p:spPr>
          <a:xfrm>
            <a:off x="571500" y="571500"/>
            <a:ext cx="11601450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Oswald"/>
                <a:ea typeface="Oswald"/>
                <a:cs typeface="Oswald"/>
                <a:sym typeface="Oswald"/>
              </a:rPr>
              <a:t>КЛЮЧОВІ ФУНКЦІЇ</a:t>
            </a:r>
            <a:endParaRPr/>
          </a:p>
        </p:txBody>
      </p:sp>
      <p:sp>
        <p:nvSpPr>
          <p:cNvPr id="147" name="Google Shape;147;p17"/>
          <p:cNvSpPr/>
          <p:nvPr/>
        </p:nvSpPr>
        <p:spPr>
          <a:xfrm>
            <a:off x="571500" y="1343025"/>
            <a:ext cx="11049000" cy="381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47812" y="2357437"/>
            <a:ext cx="3333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8"/>
          <p:cNvSpPr txBox="1"/>
          <p:nvPr/>
        </p:nvSpPr>
        <p:spPr>
          <a:xfrm>
            <a:off x="6334125" y="2357437"/>
            <a:ext cx="5550693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369A1"/>
                </a:solidFill>
                <a:latin typeface="Oswald"/>
                <a:ea typeface="Oswald"/>
                <a:cs typeface="Oswald"/>
                <a:sym typeface="Oswald"/>
              </a:rPr>
              <a:t>ДЛЯ КОГО МИ ПРАЦЮЄМО?</a:t>
            </a:r>
            <a:endParaRPr/>
          </a:p>
        </p:txBody>
      </p:sp>
      <p:pic>
        <p:nvPicPr>
          <p:cNvPr id="155" name="Google Shape;155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24012" y="2433637"/>
            <a:ext cx="3181350" cy="3181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 txBox="1"/>
          <p:nvPr/>
        </p:nvSpPr>
        <p:spPr>
          <a:xfrm>
            <a:off x="6334125" y="2900362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Молоді сім'ї: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Турбота про здоров'я дітей, захист від алергій.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6334125" y="3605212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Жителі мегаполісів: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Боротьба з міським смогом та пилом.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6334125" y="4310062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Tech-ентузіасти: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Любителі екосистеми "Розумний дім".</a:t>
            </a:r>
            <a:endParaRPr/>
          </a:p>
        </p:txBody>
      </p:sp>
      <p:pic>
        <p:nvPicPr>
          <p:cNvPr id="159" name="Google Shape;159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53125" y="2900362"/>
            <a:ext cx="3810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53125" y="3605212"/>
            <a:ext cx="3810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53125" y="4310062"/>
            <a:ext cx="3810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 txBox="1"/>
          <p:nvPr/>
        </p:nvSpPr>
        <p:spPr>
          <a:xfrm>
            <a:off x="571500" y="571500"/>
            <a:ext cx="11601450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Oswald"/>
                <a:ea typeface="Oswald"/>
                <a:cs typeface="Oswald"/>
                <a:sym typeface="Oswald"/>
              </a:rPr>
              <a:t>ЦІЛЬОВА АУДИТОРІЯ</a:t>
            </a:r>
            <a:endParaRPr/>
          </a:p>
        </p:txBody>
      </p:sp>
      <p:sp>
        <p:nvSpPr>
          <p:cNvPr id="163" name="Google Shape;163;p18"/>
          <p:cNvSpPr/>
          <p:nvPr/>
        </p:nvSpPr>
        <p:spPr>
          <a:xfrm>
            <a:off x="571500" y="1343025"/>
            <a:ext cx="11049000" cy="381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499" y="1438275"/>
            <a:ext cx="11049000" cy="484822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9"/>
          <p:cNvSpPr txBox="1"/>
          <p:nvPr/>
        </p:nvSpPr>
        <p:spPr>
          <a:xfrm>
            <a:off x="4225766" y="1710928"/>
            <a:ext cx="374046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Ефективність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очищення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vs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Ціна</a:t>
            </a:r>
            <a:endParaRPr dirty="0"/>
          </a:p>
        </p:txBody>
      </p:sp>
      <p:sp>
        <p:nvSpPr>
          <p:cNvPr id="171" name="Google Shape;171;p19"/>
          <p:cNvSpPr txBox="1"/>
          <p:nvPr/>
        </p:nvSpPr>
        <p:spPr>
          <a:xfrm>
            <a:off x="1252537" y="5429250"/>
            <a:ext cx="96869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ClimaFresh пропонує преміальну функцію UV-дезінфекції та Smart-інтеграцію за конкурентною ціною.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571500" y="571500"/>
            <a:ext cx="11601450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Oswald"/>
                <a:ea typeface="Oswald"/>
                <a:cs typeface="Oswald"/>
                <a:sym typeface="Oswald"/>
              </a:rPr>
              <a:t>КОНКУРЕНТНА ПЕРЕВАГА</a:t>
            </a:r>
            <a:endParaRPr/>
          </a:p>
        </p:txBody>
      </p:sp>
      <p:sp>
        <p:nvSpPr>
          <p:cNvPr id="173" name="Google Shape;173;p19"/>
          <p:cNvSpPr/>
          <p:nvPr/>
        </p:nvSpPr>
        <p:spPr>
          <a:xfrm>
            <a:off x="571500" y="1343025"/>
            <a:ext cx="11049000" cy="381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067050"/>
            <a:ext cx="2430660" cy="229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44180" y="3219450"/>
            <a:ext cx="2430660" cy="199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16860" y="3067050"/>
            <a:ext cx="2430660" cy="229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89541" y="3219450"/>
            <a:ext cx="2430660" cy="199072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/>
          <p:nvPr/>
        </p:nvSpPr>
        <p:spPr>
          <a:xfrm>
            <a:off x="571500" y="4214812"/>
            <a:ext cx="11049000" cy="38100"/>
          </a:xfrm>
          <a:prstGeom prst="roundRect">
            <a:avLst>
              <a:gd name="adj" fmla="val 16667"/>
            </a:avLst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720759" y="3267075"/>
            <a:ext cx="2132141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369A1"/>
                </a:solidFill>
                <a:latin typeface="Oswald"/>
                <a:ea typeface="Oswald"/>
                <a:cs typeface="Oswald"/>
                <a:sym typeface="Oswald"/>
              </a:rPr>
              <a:t>ЕТАП 1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771525" y="3800475"/>
            <a:ext cx="203061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Розробка (3 міс)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Прототипування корпусу та електроніки.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3593440" y="3419475"/>
            <a:ext cx="2132141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369A1"/>
                </a:solidFill>
                <a:latin typeface="Oswald"/>
                <a:ea typeface="Oswald"/>
                <a:cs typeface="Oswald"/>
                <a:sym typeface="Oswald"/>
              </a:rPr>
              <a:t>ЕТАП 2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3644205" y="3952875"/>
            <a:ext cx="203061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ПЗ та App (2 міс)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Інтеграція MQTT та розробка додатку.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6466120" y="3267075"/>
            <a:ext cx="2132141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369A1"/>
                </a:solidFill>
                <a:latin typeface="Oswald"/>
                <a:ea typeface="Oswald"/>
                <a:cs typeface="Oswald"/>
                <a:sym typeface="Oswald"/>
              </a:rPr>
              <a:t>ЕТАП 3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6516885" y="3800475"/>
            <a:ext cx="203061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Тести (1 міс)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Сертифікація безпеки та ефективності.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9338801" y="3419475"/>
            <a:ext cx="2132141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369A1"/>
                </a:solidFill>
                <a:latin typeface="Oswald"/>
                <a:ea typeface="Oswald"/>
                <a:cs typeface="Oswald"/>
                <a:sym typeface="Oswald"/>
              </a:rPr>
              <a:t>ЕТАП 4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9389566" y="3952875"/>
            <a:ext cx="203061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Запуск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Старт виробництва та продажів.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571500" y="571500"/>
            <a:ext cx="11601450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Oswald"/>
                <a:ea typeface="Oswald"/>
                <a:cs typeface="Oswald"/>
                <a:sym typeface="Oswald"/>
              </a:rPr>
              <a:t>ПЛАН РЕАЛІЗАЦІЇ (R&amp;D)</a:t>
            </a:r>
            <a:endParaRPr/>
          </a:p>
        </p:txBody>
      </p:sp>
      <p:sp>
        <p:nvSpPr>
          <p:cNvPr id="193" name="Google Shape;193;p20"/>
          <p:cNvSpPr/>
          <p:nvPr/>
        </p:nvSpPr>
        <p:spPr>
          <a:xfrm>
            <a:off x="571500" y="1343025"/>
            <a:ext cx="11049000" cy="381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1691580" y="411956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4564260" y="411956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7436941" y="411956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10309621" y="411956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4FA8021-A754-0427-FA6D-0350AAB91D0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2220060"/>
            <a:ext cx="12172950" cy="37990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62125"/>
            <a:ext cx="11049000" cy="452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23950" y="1895475"/>
            <a:ext cx="99441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1"/>
          <p:cNvSpPr txBox="1"/>
          <p:nvPr/>
        </p:nvSpPr>
        <p:spPr>
          <a:xfrm>
            <a:off x="571500" y="571500"/>
            <a:ext cx="11601450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Oswald"/>
                <a:ea typeface="Oswald"/>
                <a:cs typeface="Oswald"/>
                <a:sym typeface="Oswald"/>
              </a:rPr>
              <a:t>ФІНАНСОВИЙ ПРОГНОЗ</a:t>
            </a:r>
            <a:endParaRPr/>
          </a:p>
        </p:txBody>
      </p:sp>
      <p:sp>
        <p:nvSpPr>
          <p:cNvPr id="206" name="Google Shape;206;p21"/>
          <p:cNvSpPr/>
          <p:nvPr/>
        </p:nvSpPr>
        <p:spPr>
          <a:xfrm>
            <a:off x="571500" y="1343025"/>
            <a:ext cx="11049000" cy="381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65200" y="2486025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2"/>
          <p:cNvSpPr txBox="1"/>
          <p:nvPr/>
        </p:nvSpPr>
        <p:spPr>
          <a:xfrm>
            <a:off x="1147554" y="4581525"/>
            <a:ext cx="2340292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369A1"/>
                </a:solidFill>
                <a:latin typeface="Oswald"/>
                <a:ea typeface="Oswald"/>
                <a:cs typeface="Oswald"/>
                <a:sym typeface="Oswald"/>
              </a:rPr>
              <a:t>КЕРІВНИК ПРОЄКТУ</a:t>
            </a:r>
            <a:endParaRPr/>
          </a:p>
        </p:txBody>
      </p:sp>
      <p:sp>
        <p:nvSpPr>
          <p:cNvPr id="214" name="Google Shape;214;p22"/>
          <p:cNvSpPr txBox="1"/>
          <p:nvPr/>
        </p:nvSpPr>
        <p:spPr>
          <a:xfrm>
            <a:off x="1327100" y="5114925"/>
            <a:ext cx="1981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Стратегія та фінанси.</a:t>
            </a:r>
            <a:endParaRPr/>
          </a:p>
        </p:txBody>
      </p:sp>
      <p:pic>
        <p:nvPicPr>
          <p:cNvPr id="215" name="Google Shape;215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143500" y="2486025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2"/>
          <p:cNvSpPr txBox="1"/>
          <p:nvPr/>
        </p:nvSpPr>
        <p:spPr>
          <a:xfrm>
            <a:off x="4880848" y="4581525"/>
            <a:ext cx="2430303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369A1"/>
                </a:solidFill>
                <a:latin typeface="Oswald"/>
                <a:ea typeface="Oswald"/>
                <a:cs typeface="Oswald"/>
                <a:sym typeface="Oswald"/>
              </a:rPr>
              <a:t>ГОЛОВНИЙ ІНЖЕНЕР</a:t>
            </a:r>
            <a:endParaRPr/>
          </a:p>
        </p:txBody>
      </p:sp>
      <p:sp>
        <p:nvSpPr>
          <p:cNvPr id="217" name="Google Shape;217;p22"/>
          <p:cNvSpPr txBox="1"/>
          <p:nvPr/>
        </p:nvSpPr>
        <p:spPr>
          <a:xfrm>
            <a:off x="4743450" y="5114925"/>
            <a:ext cx="2705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Розробка електроніки та IoT.</a:t>
            </a:r>
            <a:endParaRPr/>
          </a:p>
        </p:txBody>
      </p:sp>
      <p:pic>
        <p:nvPicPr>
          <p:cNvPr id="218" name="Google Shape;218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921799" y="2486025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2"/>
          <p:cNvSpPr txBox="1"/>
          <p:nvPr/>
        </p:nvSpPr>
        <p:spPr>
          <a:xfrm>
            <a:off x="9099202" y="4581525"/>
            <a:ext cx="1550193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369A1"/>
                </a:solidFill>
                <a:latin typeface="Oswald"/>
                <a:ea typeface="Oswald"/>
                <a:cs typeface="Oswald"/>
                <a:sym typeface="Oswald"/>
              </a:rPr>
              <a:t>МАРКЕТОЛОГ</a:t>
            </a:r>
            <a:endParaRPr/>
          </a:p>
        </p:txBody>
      </p:sp>
      <p:sp>
        <p:nvSpPr>
          <p:cNvPr id="220" name="Google Shape;220;p22"/>
          <p:cNvSpPr txBox="1"/>
          <p:nvPr/>
        </p:nvSpPr>
        <p:spPr>
          <a:xfrm>
            <a:off x="8845599" y="5114925"/>
            <a:ext cx="2057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Просування та бренд.</a:t>
            </a:r>
            <a:endParaRPr/>
          </a:p>
        </p:txBody>
      </p:sp>
      <p:pic>
        <p:nvPicPr>
          <p:cNvPr id="221" name="Google Shape;221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65200" y="2486025"/>
            <a:ext cx="19050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0" y="3057525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493299" y="305752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2"/>
          <p:cNvSpPr txBox="1"/>
          <p:nvPr/>
        </p:nvSpPr>
        <p:spPr>
          <a:xfrm>
            <a:off x="571500" y="571500"/>
            <a:ext cx="11601450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Oswald"/>
                <a:ea typeface="Oswald"/>
                <a:cs typeface="Oswald"/>
                <a:sym typeface="Oswald"/>
              </a:rPr>
              <a:t>НАША КОМАНДА</a:t>
            </a:r>
            <a:endParaRPr/>
          </a:p>
        </p:txBody>
      </p:sp>
      <p:sp>
        <p:nvSpPr>
          <p:cNvPr id="225" name="Google Shape;225;p22"/>
          <p:cNvSpPr/>
          <p:nvPr/>
        </p:nvSpPr>
        <p:spPr>
          <a:xfrm>
            <a:off x="571500" y="1343025"/>
            <a:ext cx="11049000" cy="381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3"/>
          <p:cNvSpPr txBox="1"/>
          <p:nvPr/>
        </p:nvSpPr>
        <p:spPr>
          <a:xfrm>
            <a:off x="571500" y="1643062"/>
            <a:ext cx="5550693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369A1"/>
                </a:solidFill>
                <a:latin typeface="Oswald"/>
                <a:ea typeface="Oswald"/>
                <a:cs typeface="Oswald"/>
                <a:sym typeface="Oswald"/>
              </a:rPr>
              <a:t>ПОВНИЙ КОНТРОЛЬ У СМАРТФОНІ</a:t>
            </a:r>
            <a:endParaRPr/>
          </a:p>
        </p:txBody>
      </p:sp>
      <p:sp>
        <p:nvSpPr>
          <p:cNvPr id="232" name="Google Shape;232;p23"/>
          <p:cNvSpPr txBox="1"/>
          <p:nvPr/>
        </p:nvSpPr>
        <p:spPr>
          <a:xfrm>
            <a:off x="657225" y="232886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33" name="Google Shape;233;p23"/>
          <p:cNvSpPr txBox="1"/>
          <p:nvPr/>
        </p:nvSpPr>
        <p:spPr>
          <a:xfrm>
            <a:off x="762000" y="2328862"/>
            <a:ext cx="5095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Моніторинг PM2.5, CO2 та VOC у реальному часі.</a:t>
            </a:r>
            <a:endParaRPr/>
          </a:p>
        </p:txBody>
      </p:sp>
      <p:sp>
        <p:nvSpPr>
          <p:cNvPr id="234" name="Google Shape;234;p23"/>
          <p:cNvSpPr txBox="1"/>
          <p:nvPr/>
        </p:nvSpPr>
        <p:spPr>
          <a:xfrm>
            <a:off x="657225" y="272891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35" name="Google Shape;235;p23"/>
          <p:cNvSpPr txBox="1"/>
          <p:nvPr/>
        </p:nvSpPr>
        <p:spPr>
          <a:xfrm>
            <a:off x="762000" y="2728912"/>
            <a:ext cx="5095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Сповіщення про необхідність заміни фільтрів.</a:t>
            </a:r>
            <a:endParaRPr/>
          </a:p>
        </p:txBody>
      </p:sp>
      <p:sp>
        <p:nvSpPr>
          <p:cNvPr id="236" name="Google Shape;236;p23"/>
          <p:cNvSpPr txBox="1"/>
          <p:nvPr/>
        </p:nvSpPr>
        <p:spPr>
          <a:xfrm>
            <a:off x="657225" y="312896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37" name="Google Shape;237;p23"/>
          <p:cNvSpPr txBox="1"/>
          <p:nvPr/>
        </p:nvSpPr>
        <p:spPr>
          <a:xfrm>
            <a:off x="762000" y="3128962"/>
            <a:ext cx="50958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Налаштування розкладу роботи та сценаріїв "Вдома/Не вдома".</a:t>
            </a:r>
            <a:endParaRPr/>
          </a:p>
        </p:txBody>
      </p:sp>
      <p:sp>
        <p:nvSpPr>
          <p:cNvPr id="238" name="Google Shape;238;p23"/>
          <p:cNvSpPr txBox="1"/>
          <p:nvPr/>
        </p:nvSpPr>
        <p:spPr>
          <a:xfrm>
            <a:off x="657225" y="383381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39" name="Google Shape;239;p23"/>
          <p:cNvSpPr txBox="1"/>
          <p:nvPr/>
        </p:nvSpPr>
        <p:spPr>
          <a:xfrm>
            <a:off x="762000" y="3833812"/>
            <a:ext cx="5095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Інтеграція з Google Home та Apple HomeKit.</a:t>
            </a:r>
            <a:endParaRPr/>
          </a:p>
        </p:txBody>
      </p:sp>
      <p:pic>
        <p:nvPicPr>
          <p:cNvPr id="240" name="Google Shape;240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643062"/>
            <a:ext cx="5286375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3"/>
          <p:cNvSpPr txBox="1"/>
          <p:nvPr/>
        </p:nvSpPr>
        <p:spPr>
          <a:xfrm>
            <a:off x="571500" y="452437"/>
            <a:ext cx="11601450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Oswald"/>
                <a:ea typeface="Oswald"/>
                <a:cs typeface="Oswald"/>
                <a:sym typeface="Oswald"/>
              </a:rPr>
              <a:t>ЕКОСИСТЕМА КЕРУВАННЯ</a:t>
            </a:r>
            <a:endParaRPr/>
          </a:p>
        </p:txBody>
      </p:sp>
      <p:sp>
        <p:nvSpPr>
          <p:cNvPr id="242" name="Google Shape;242;p23"/>
          <p:cNvSpPr/>
          <p:nvPr/>
        </p:nvSpPr>
        <p:spPr>
          <a:xfrm>
            <a:off x="571500" y="1223962"/>
            <a:ext cx="11049000" cy="381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382</Words>
  <Application>Microsoft Office PowerPoint</Application>
  <PresentationFormat>Широкий екран</PresentationFormat>
  <Paragraphs>62</Paragraphs>
  <Slides>11</Slides>
  <Notes>11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11</vt:i4>
      </vt:variant>
    </vt:vector>
  </HeadingPairs>
  <TitlesOfParts>
    <vt:vector size="16" baseType="lpstr">
      <vt:lpstr>Inter</vt:lpstr>
      <vt:lpstr>Oswald</vt:lpstr>
      <vt:lpstr>Calibri</vt:lpstr>
      <vt:lpstr>Arial</vt:lpstr>
      <vt:lpstr>Office Theme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natalie mukha</cp:lastModifiedBy>
  <cp:revision>1</cp:revision>
  <dcterms:modified xsi:type="dcterms:W3CDTF">2025-12-03T18:39:32Z</dcterms:modified>
</cp:coreProperties>
</file>