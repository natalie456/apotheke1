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Montserrat" panose="00000500000000000000" pitchFamily="2" charset="-52"/>
      <p:regular r:id="rId12"/>
      <p:bold r:id="rId13"/>
      <p:italic r:id="rId14"/>
      <p:boldItalic r:id="rId15"/>
    </p:embeddedFont>
    <p:embeddedFont>
      <p:font typeface="Roboto" panose="020000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B626325-AFA7-4190-99E2-752F9C1CC811}">
  <a:tblStyle styleId="{2B626325-AFA7-4190-99E2-752F9C1CC81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1190" y="2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95275" y="1998464"/>
            <a:ext cx="11601450" cy="146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284C7"/>
                </a:solidFill>
                <a:latin typeface="Montserrat"/>
                <a:ea typeface="Montserrat"/>
                <a:cs typeface="Montserrat"/>
                <a:sym typeface="Montserrat"/>
              </a:rPr>
              <a:t>Аналіз Ризиків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>
                <a:solidFill>
                  <a:srgbClr val="0284C7"/>
                </a:solidFill>
                <a:latin typeface="Montserrat"/>
                <a:ea typeface="Montserrat"/>
                <a:cs typeface="Montserrat"/>
                <a:sym typeface="Montserrat"/>
              </a:rPr>
              <a:t> проєкту "ClimaFresh"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286000" y="3747194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Комплексна оцінка загроз для розробки автоматизованого очищувача повітря з UV-дезінфекцією та функцією Smart Home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192535"/>
            <a:ext cx="5238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954535"/>
            <a:ext cx="5238750" cy="28956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571500" y="2059185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Розподіл ризиків за ймовірністю виникнення та силою впливу на проєкт.</a:t>
            </a:r>
            <a:endParaRPr/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91275" y="2202060"/>
            <a:ext cx="521970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771525" y="3345060"/>
            <a:ext cx="4838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Високий ризик: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Технічні збої датчиків, Безпека UV-випромінювання.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771525" y="4097535"/>
            <a:ext cx="4838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Середній ризик: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Конкуренція з Xiaomi/Philips, Затримка поставок мікрочіпів.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771525" y="4850010"/>
            <a:ext cx="4838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Низький ризик: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Юридичні аспекти, Логістика в межах країни.</a:t>
            </a:r>
            <a:endParaRPr/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5775" y="340221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85775" y="415468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85775" y="490716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762000" y="571500"/>
            <a:ext cx="11401425" cy="479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Карта Ризиків</a:t>
            </a:r>
            <a:endParaRPr/>
          </a:p>
        </p:txBody>
      </p:sp>
      <p:sp>
        <p:nvSpPr>
          <p:cNvPr id="108" name="Google Shape;108;p14"/>
          <p:cNvSpPr/>
          <p:nvPr/>
        </p:nvSpPr>
        <p:spPr>
          <a:xfrm>
            <a:off x="571500" y="571500"/>
            <a:ext cx="57150" cy="47997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449562"/>
            <a:ext cx="5238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432470"/>
            <a:ext cx="5238750" cy="241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211687"/>
            <a:ext cx="5238750" cy="2463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1750" y="2449562"/>
            <a:ext cx="5238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/>
          <p:nvPr/>
        </p:nvSpPr>
        <p:spPr>
          <a:xfrm>
            <a:off x="866775" y="1775370"/>
            <a:ext cx="1057275" cy="308520"/>
          </a:xfrm>
          <a:prstGeom prst="roundRect">
            <a:avLst>
              <a:gd name="adj" fmla="val 12349"/>
            </a:avLst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981075" y="1822995"/>
            <a:ext cx="82867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КРИТИЧНИЙ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1171575" y="2179141"/>
            <a:ext cx="4560570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Безпека UV-C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66775" y="2621012"/>
            <a:ext cx="4648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Ризик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Витік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ультрафіолету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через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дефекти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корпусу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1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Наслідок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Травми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очей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користувачів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судові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позови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повне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відкликання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партії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dirty="0"/>
          </a:p>
        </p:txBody>
      </p:sp>
      <p:sp>
        <p:nvSpPr>
          <p:cNvPr id="122" name="Google Shape;122;p15"/>
          <p:cNvSpPr/>
          <p:nvPr/>
        </p:nvSpPr>
        <p:spPr>
          <a:xfrm>
            <a:off x="866775" y="4554587"/>
            <a:ext cx="876300" cy="308520"/>
          </a:xfrm>
          <a:prstGeom prst="roundRect">
            <a:avLst>
              <a:gd name="adj" fmla="val 12349"/>
            </a:avLst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981075" y="4602212"/>
            <a:ext cx="6477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СЕРЕДНІЙ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1228725" y="4958357"/>
            <a:ext cx="4500562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Хибні спрацювання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866775" y="5400228"/>
            <a:ext cx="4648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Ризик: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Некоректна робота датчиків газу/CO₂.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1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Наслідок: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Паніка користувача або ігнорування реальної загрози, втрата довіри.</a:t>
            </a:r>
            <a:endParaRPr/>
          </a:p>
        </p:txBody>
      </p:sp>
      <p:pic>
        <p:nvPicPr>
          <p:cNvPr id="126" name="Google Shape;126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6775" y="2199977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66775" y="4979193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762000" y="571500"/>
            <a:ext cx="11401425" cy="479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Технологічні Ризики (Критичні)</a:t>
            </a:r>
            <a:endParaRPr/>
          </a:p>
        </p:txBody>
      </p:sp>
      <p:sp>
        <p:nvSpPr>
          <p:cNvPr id="129" name="Google Shape;129;p15"/>
          <p:cNvSpPr/>
          <p:nvPr/>
        </p:nvSpPr>
        <p:spPr>
          <a:xfrm>
            <a:off x="571500" y="571500"/>
            <a:ext cx="57150" cy="47997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92535"/>
            <a:ext cx="5238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192535"/>
            <a:ext cx="5238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6381750" y="2269777"/>
            <a:ext cx="52387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000" b="1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"</a:t>
            </a:r>
            <a:r>
              <a:rPr lang="en-US" sz="2000" b="1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Невидима</a:t>
            </a:r>
            <a:r>
              <a:rPr lang="en-US" sz="2000" b="1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" </a:t>
            </a:r>
            <a:r>
              <a:rPr lang="en-US" sz="2000" b="1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користь</a:t>
            </a:r>
            <a:r>
              <a:rPr lang="en-US" sz="2000" b="1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sz="2000" dirty="0"/>
          </a:p>
        </p:txBody>
      </p:sp>
      <p:sp>
        <p:nvSpPr>
          <p:cNvPr id="138" name="Google Shape;138;p16"/>
          <p:cNvSpPr txBox="1"/>
          <p:nvPr/>
        </p:nvSpPr>
        <p:spPr>
          <a:xfrm>
            <a:off x="6381750" y="3408908"/>
            <a:ext cx="52387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000" b="1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Ціновий</a:t>
            </a:r>
            <a:r>
              <a:rPr lang="en-US" sz="2000" b="1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000" b="1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демпінг</a:t>
            </a:r>
            <a:r>
              <a:rPr lang="en-US" sz="2000" b="1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sz="2000" dirty="0"/>
          </a:p>
        </p:txBody>
      </p:sp>
      <p:sp>
        <p:nvSpPr>
          <p:cNvPr id="139" name="Google Shape;139;p16"/>
          <p:cNvSpPr txBox="1"/>
          <p:nvPr/>
        </p:nvSpPr>
        <p:spPr>
          <a:xfrm>
            <a:off x="6381750" y="4548038"/>
            <a:ext cx="52387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000" b="1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Копіювання</a:t>
            </a:r>
            <a:r>
              <a:rPr lang="en-US" sz="2000" b="1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000" b="1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функцій</a:t>
            </a:r>
            <a:r>
              <a:rPr lang="en-US" sz="2000" b="1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sz="2000" dirty="0"/>
          </a:p>
        </p:txBody>
      </p:sp>
      <p:pic>
        <p:nvPicPr>
          <p:cNvPr id="140" name="Google Shape;140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072187" y="2326927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96000" y="3466058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105525" y="4605188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762000" y="571500"/>
            <a:ext cx="11401425" cy="479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Ринкові Ризики</a:t>
            </a:r>
            <a:endParaRPr/>
          </a:p>
        </p:txBody>
      </p:sp>
      <p:sp>
        <p:nvSpPr>
          <p:cNvPr id="144" name="Google Shape;144;p16"/>
          <p:cNvSpPr/>
          <p:nvPr/>
        </p:nvSpPr>
        <p:spPr>
          <a:xfrm>
            <a:off x="571500" y="571500"/>
            <a:ext cx="57150" cy="47997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19337"/>
            <a:ext cx="3492549" cy="3080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319337"/>
            <a:ext cx="3492549" cy="3080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319337"/>
            <a:ext cx="3492549" cy="308029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1171575" y="2643187"/>
            <a:ext cx="2727059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Сертифікація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866775" y="3085058"/>
            <a:ext cx="2901999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Труднощі з отриманням гігієнічного сертифікату для пристроїв з UV-випромінюванням. Ризик затримки виходу на ринок на 2-3 місяці.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4949874" y="2643187"/>
            <a:ext cx="2727059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Supply Chain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4645074" y="3085058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Дефіцит якісних HEPA-фільтрів H13 або датчиків CO₂ від постачальників, що може зупинити виробництво.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8728174" y="2643187"/>
            <a:ext cx="2727059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Підтримка ПЗ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8423374" y="3085058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Ризик перевантаження серверів при одночасному підключенні тисяч пристроїв до хмари Smart Home.</a:t>
            </a:r>
            <a:endParaRPr/>
          </a:p>
        </p:txBody>
      </p:sp>
      <p:pic>
        <p:nvPicPr>
          <p:cNvPr id="159" name="Google Shape;159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664023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2664023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2664023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762000" y="571500"/>
            <a:ext cx="11401425" cy="479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Операційні та Сертифікаційні Ризики</a:t>
            </a:r>
            <a:endParaRPr/>
          </a:p>
        </p:txBody>
      </p:sp>
      <p:sp>
        <p:nvSpPr>
          <p:cNvPr id="163" name="Google Shape;163;p17"/>
          <p:cNvSpPr/>
          <p:nvPr/>
        </p:nvSpPr>
        <p:spPr>
          <a:xfrm>
            <a:off x="571500" y="571500"/>
            <a:ext cx="57150" cy="47997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192535"/>
            <a:ext cx="5238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668660"/>
            <a:ext cx="5238750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954660"/>
            <a:ext cx="5238750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1750" y="2192535"/>
            <a:ext cx="5238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 txBox="1"/>
          <p:nvPr/>
        </p:nvSpPr>
        <p:spPr>
          <a:xfrm>
            <a:off x="857250" y="1916310"/>
            <a:ext cx="47053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F4444"/>
                </a:solidFill>
                <a:latin typeface="Roboto"/>
                <a:ea typeface="Roboto"/>
                <a:cs typeface="Roboto"/>
                <a:sym typeface="Roboto"/>
              </a:rPr>
              <a:t>Висока вартість залучення (CAC)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857250" y="2411610"/>
            <a:ext cx="47053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Необхідність "навчати" клієнта про шкоду CO₂ вимагає великих витрат на контент-маркетинг, що знижує маржинальність.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857250" y="4202310"/>
            <a:ext cx="47053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59E0B"/>
                </a:solidFill>
                <a:latin typeface="Roboto"/>
                <a:ea typeface="Roboto"/>
                <a:cs typeface="Roboto"/>
                <a:sym typeface="Roboto"/>
              </a:rPr>
              <a:t>Валютні коливання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857250" y="4697610"/>
            <a:ext cx="47053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Закупівля комплектуючих (датчики, пластик, електроніка) у валюті при продажах у гривні створює курсові ризики.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762000" y="571500"/>
            <a:ext cx="11401425" cy="479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Фінансові Ризики</a:t>
            </a:r>
            <a:endParaRPr/>
          </a:p>
        </p:txBody>
      </p:sp>
      <p:sp>
        <p:nvSpPr>
          <p:cNvPr id="178" name="Google Shape;178;p18"/>
          <p:cNvSpPr/>
          <p:nvPr/>
        </p:nvSpPr>
        <p:spPr>
          <a:xfrm>
            <a:off x="571500" y="571500"/>
            <a:ext cx="57150" cy="47997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32470"/>
            <a:ext cx="5429250" cy="2331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0" y="1432470"/>
            <a:ext cx="5429250" cy="2331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954660"/>
            <a:ext cx="5429250" cy="2331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191250" y="3954660"/>
            <a:ext cx="5429250" cy="2331839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9"/>
          <p:cNvSpPr txBox="1"/>
          <p:nvPr/>
        </p:nvSpPr>
        <p:spPr>
          <a:xfrm>
            <a:off x="857250" y="1680120"/>
            <a:ext cx="48958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0B981"/>
                </a:solidFill>
                <a:latin typeface="Roboto"/>
                <a:ea typeface="Roboto"/>
                <a:cs typeface="Roboto"/>
                <a:sym typeface="Roboto"/>
              </a:rPr>
              <a:t>STRENGTHS (СИЛА)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6477000" y="1680120"/>
            <a:ext cx="48958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F4444"/>
                </a:solidFill>
                <a:latin typeface="Roboto"/>
                <a:ea typeface="Roboto"/>
                <a:cs typeface="Roboto"/>
                <a:sym typeface="Roboto"/>
              </a:rPr>
              <a:t>WEAKNESSES (СЛАБКІСТЬ)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857250" y="4202310"/>
            <a:ext cx="48958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B82F6"/>
                </a:solidFill>
                <a:latin typeface="Roboto"/>
                <a:ea typeface="Roboto"/>
                <a:cs typeface="Roboto"/>
                <a:sym typeface="Roboto"/>
              </a:rPr>
              <a:t>OPPORTUNITIES (МОЖЛИВОСТІ)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6477000" y="4202310"/>
            <a:ext cx="48958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59E0B"/>
                </a:solidFill>
                <a:latin typeface="Roboto"/>
                <a:ea typeface="Roboto"/>
                <a:cs typeface="Roboto"/>
                <a:sym typeface="Roboto"/>
              </a:rPr>
              <a:t>THREATS (ЗАГРОЗИ)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952500" y="2209620"/>
            <a:ext cx="451485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Унікальна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комбінація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: HEPA + UV + CO₂.</a:t>
            </a:r>
            <a:endParaRPr sz="1800" dirty="0"/>
          </a:p>
        </p:txBody>
      </p:sp>
      <p:sp>
        <p:nvSpPr>
          <p:cNvPr id="195" name="Google Shape;195;p19"/>
          <p:cNvSpPr txBox="1"/>
          <p:nvPr/>
        </p:nvSpPr>
        <p:spPr>
          <a:xfrm>
            <a:off x="952500" y="2652516"/>
            <a:ext cx="451485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Локалізований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додаток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та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сервіс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800" dirty="0"/>
          </a:p>
        </p:txBody>
      </p:sp>
      <p:sp>
        <p:nvSpPr>
          <p:cNvPr id="197" name="Google Shape;197;p19"/>
          <p:cNvSpPr txBox="1"/>
          <p:nvPr/>
        </p:nvSpPr>
        <p:spPr>
          <a:xfrm>
            <a:off x="952500" y="3065483"/>
            <a:ext cx="470535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Спеціалізовані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режими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(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Дитячий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/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Нічний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1800" dirty="0"/>
          </a:p>
        </p:txBody>
      </p:sp>
      <p:sp>
        <p:nvSpPr>
          <p:cNvPr id="199" name="Google Shape;199;p19"/>
          <p:cNvSpPr txBox="1"/>
          <p:nvPr/>
        </p:nvSpPr>
        <p:spPr>
          <a:xfrm>
            <a:off x="6724650" y="2163371"/>
            <a:ext cx="451485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Відсутність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історії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бренду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800" dirty="0"/>
          </a:p>
        </p:txBody>
      </p:sp>
      <p:sp>
        <p:nvSpPr>
          <p:cNvPr id="201" name="Google Shape;201;p19"/>
          <p:cNvSpPr txBox="1"/>
          <p:nvPr/>
        </p:nvSpPr>
        <p:spPr>
          <a:xfrm>
            <a:off x="6724650" y="2573703"/>
            <a:ext cx="451485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Залежність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від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імпортних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компонентів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800" dirty="0"/>
          </a:p>
        </p:txBody>
      </p:sp>
      <p:sp>
        <p:nvSpPr>
          <p:cNvPr id="203" name="Google Shape;203;p19"/>
          <p:cNvSpPr txBox="1"/>
          <p:nvPr/>
        </p:nvSpPr>
        <p:spPr>
          <a:xfrm>
            <a:off x="6724650" y="2985802"/>
            <a:ext cx="47625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Вузька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лінійка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продуктів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(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один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пристрій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1800" dirty="0"/>
          </a:p>
        </p:txBody>
      </p:sp>
      <p:sp>
        <p:nvSpPr>
          <p:cNvPr id="205" name="Google Shape;205;p19"/>
          <p:cNvSpPr txBox="1"/>
          <p:nvPr/>
        </p:nvSpPr>
        <p:spPr>
          <a:xfrm>
            <a:off x="952500" y="4686060"/>
            <a:ext cx="451485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Зростання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ринку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"Health Tech".</a:t>
            </a:r>
            <a:endParaRPr sz="1800" dirty="0"/>
          </a:p>
        </p:txBody>
      </p:sp>
      <p:sp>
        <p:nvSpPr>
          <p:cNvPr id="207" name="Google Shape;207;p19"/>
          <p:cNvSpPr txBox="1"/>
          <p:nvPr/>
        </p:nvSpPr>
        <p:spPr>
          <a:xfrm>
            <a:off x="952500" y="5098159"/>
            <a:ext cx="451485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B2B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продажі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(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приватні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садки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клініки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1800" dirty="0"/>
          </a:p>
        </p:txBody>
      </p:sp>
      <p:sp>
        <p:nvSpPr>
          <p:cNvPr id="209" name="Google Shape;209;p19"/>
          <p:cNvSpPr txBox="1"/>
          <p:nvPr/>
        </p:nvSpPr>
        <p:spPr>
          <a:xfrm>
            <a:off x="952500" y="5506947"/>
            <a:ext cx="451485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Експорт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у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країни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Східної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Європи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800" dirty="0"/>
          </a:p>
        </p:txBody>
      </p:sp>
      <p:sp>
        <p:nvSpPr>
          <p:cNvPr id="211" name="Google Shape;211;p19"/>
          <p:cNvSpPr txBox="1"/>
          <p:nvPr/>
        </p:nvSpPr>
        <p:spPr>
          <a:xfrm>
            <a:off x="6724650" y="4697610"/>
            <a:ext cx="451485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Поява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нових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вірусів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(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зміна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вимог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1800" dirty="0"/>
          </a:p>
        </p:txBody>
      </p:sp>
      <p:sp>
        <p:nvSpPr>
          <p:cNvPr id="213" name="Google Shape;213;p19"/>
          <p:cNvSpPr txBox="1"/>
          <p:nvPr/>
        </p:nvSpPr>
        <p:spPr>
          <a:xfrm>
            <a:off x="6724650" y="5129258"/>
            <a:ext cx="451485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Демпінг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з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боку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глобальних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корпорацій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800" dirty="0"/>
          </a:p>
        </p:txBody>
      </p:sp>
      <p:sp>
        <p:nvSpPr>
          <p:cNvPr id="215" name="Google Shape;215;p19"/>
          <p:cNvSpPr txBox="1"/>
          <p:nvPr/>
        </p:nvSpPr>
        <p:spPr>
          <a:xfrm>
            <a:off x="6724650" y="5541357"/>
            <a:ext cx="451485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Зниження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купівельної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спроможності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800" dirty="0"/>
          </a:p>
        </p:txBody>
      </p:sp>
      <p:sp>
        <p:nvSpPr>
          <p:cNvPr id="216" name="Google Shape;216;p19"/>
          <p:cNvSpPr txBox="1"/>
          <p:nvPr/>
        </p:nvSpPr>
        <p:spPr>
          <a:xfrm>
            <a:off x="762000" y="571500"/>
            <a:ext cx="11401425" cy="479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SWOT-аналіз ClimaFresh</a:t>
            </a:r>
            <a:endParaRPr/>
          </a:p>
        </p:txBody>
      </p:sp>
      <p:sp>
        <p:nvSpPr>
          <p:cNvPr id="217" name="Google Shape;217;p19"/>
          <p:cNvSpPr/>
          <p:nvPr/>
        </p:nvSpPr>
        <p:spPr>
          <a:xfrm>
            <a:off x="571500" y="571500"/>
            <a:ext cx="57150" cy="47997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3" name="Google Shape;223;p20"/>
          <p:cNvGraphicFramePr/>
          <p:nvPr/>
        </p:nvGraphicFramePr>
        <p:xfrm>
          <a:off x="571500" y="1844873"/>
          <a:ext cx="11049000" cy="4219625"/>
        </p:xfrm>
        <a:graphic>
          <a:graphicData uri="http://schemas.openxmlformats.org/drawingml/2006/table">
            <a:tbl>
              <a:tblPr firstRow="1" bandRow="1">
                <a:noFill/>
                <a:tableStyleId>{2B626325-AFA7-4190-99E2-752F9C1CC811}</a:tableStyleId>
              </a:tblPr>
              <a:tblGrid>
                <a:gridCol w="27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29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43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F172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Ризик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F172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Тип дії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F172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План дій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3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UV-Безпека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Уникнення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Встановлення подвійного датчика відкриття корпусу (механічний + оптичний), що миттєво вимикає лампу.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3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Точність датчиків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Зниження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Використання попередньо відкаліброваних модулів промислового класу (напр. Senseair).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3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Конкуренція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Прийняття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Фокус на нішевій аудиторії (батьки, алергіки) замість прямої боротьби на мас-маркеті.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3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Курсові ризики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Передача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Фіксація цін у валюті для B2B контрактів або створення валютного резерву.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4" name="Google Shape;224;p20"/>
          <p:cNvSpPr/>
          <p:nvPr/>
        </p:nvSpPr>
        <p:spPr>
          <a:xfrm>
            <a:off x="571500" y="2430660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3333750" y="2430660"/>
            <a:ext cx="1657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4991100" y="2430660"/>
            <a:ext cx="6629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571500" y="3335535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3333750" y="3335535"/>
            <a:ext cx="1657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4991100" y="3335535"/>
            <a:ext cx="6629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571500" y="4240410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3333750" y="4240410"/>
            <a:ext cx="1657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4991100" y="4240410"/>
            <a:ext cx="6629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571500" y="5145285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3333750" y="5145285"/>
            <a:ext cx="1657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4991100" y="5145285"/>
            <a:ext cx="6629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571500" y="6050160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3333750" y="6050160"/>
            <a:ext cx="1657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0"/>
          <p:cNvSpPr/>
          <p:nvPr/>
        </p:nvSpPr>
        <p:spPr>
          <a:xfrm>
            <a:off x="4991100" y="6050160"/>
            <a:ext cx="6629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0"/>
          <p:cNvSpPr txBox="1"/>
          <p:nvPr/>
        </p:nvSpPr>
        <p:spPr>
          <a:xfrm>
            <a:off x="762000" y="571500"/>
            <a:ext cx="11401425" cy="479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Стратегія Мінімізації (Mitigation)</a:t>
            </a:r>
            <a:endParaRPr/>
          </a:p>
        </p:txBody>
      </p:sp>
      <p:sp>
        <p:nvSpPr>
          <p:cNvPr id="240" name="Google Shape;240;p20"/>
          <p:cNvSpPr/>
          <p:nvPr/>
        </p:nvSpPr>
        <p:spPr>
          <a:xfrm>
            <a:off x="571500" y="571500"/>
            <a:ext cx="57150" cy="47997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125" y="3171825"/>
            <a:ext cx="3333750" cy="2617291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1"/>
          <p:cNvSpPr txBox="1"/>
          <p:nvPr/>
        </p:nvSpPr>
        <p:spPr>
          <a:xfrm>
            <a:off x="295275" y="1068883"/>
            <a:ext cx="116014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284C7"/>
                </a:solidFill>
                <a:latin typeface="Montserrat"/>
                <a:ea typeface="Montserrat"/>
                <a:cs typeface="Montserrat"/>
                <a:sym typeface="Montserrat"/>
              </a:rPr>
              <a:t>Висновок</a:t>
            </a:r>
            <a:endParaRPr/>
          </a:p>
        </p:txBody>
      </p:sp>
      <p:sp>
        <p:nvSpPr>
          <p:cNvPr id="248" name="Google Shape;248;p21"/>
          <p:cNvSpPr txBox="1"/>
          <p:nvPr/>
        </p:nvSpPr>
        <p:spPr>
          <a:xfrm>
            <a:off x="1809750" y="1903214"/>
            <a:ext cx="8572500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Проєкт </a:t>
            </a:r>
            <a:r>
              <a:rPr lang="en-US" sz="1950" b="1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ClimaFresh</a:t>
            </a:r>
            <a:r>
              <a:rPr lang="en-US" sz="19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має помірний рівень ризику. Найбільшу загрозу становлять технологічні аспекти безпеки UV та ринкова конкуренція.</a:t>
            </a:r>
            <a:endParaRPr/>
          </a:p>
        </p:txBody>
      </p:sp>
      <p:sp>
        <p:nvSpPr>
          <p:cNvPr id="249" name="Google Shape;249;p21"/>
          <p:cNvSpPr txBox="1"/>
          <p:nvPr/>
        </p:nvSpPr>
        <p:spPr>
          <a:xfrm>
            <a:off x="4655820" y="3467100"/>
            <a:ext cx="288036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Головний Пріоритет</a:t>
            </a:r>
            <a:endParaRPr/>
          </a:p>
        </p:txBody>
      </p:sp>
      <p:sp>
        <p:nvSpPr>
          <p:cNvPr id="250" name="Google Shape;250;p21"/>
          <p:cNvSpPr txBox="1"/>
          <p:nvPr/>
        </p:nvSpPr>
        <p:spPr>
          <a:xfrm>
            <a:off x="4724400" y="4388941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Бездоганна реалізація системи безпеки та сертифікація пристрою.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441</Words>
  <Application>Microsoft Office PowerPoint</Application>
  <PresentationFormat>Широкий екран</PresentationFormat>
  <Paragraphs>67</Paragraphs>
  <Slides>9</Slides>
  <Notes>9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9</vt:i4>
      </vt:variant>
    </vt:vector>
  </HeadingPairs>
  <TitlesOfParts>
    <vt:vector size="14" baseType="lpstr">
      <vt:lpstr>Roboto</vt:lpstr>
      <vt:lpstr>Montserrat</vt:lpstr>
      <vt:lpstr>Calibri</vt:lpstr>
      <vt:lpstr>Arial</vt:lpstr>
      <vt:lpstr>Office Theme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natalie mukha</cp:lastModifiedBy>
  <cp:revision>1</cp:revision>
  <dcterms:modified xsi:type="dcterms:W3CDTF">2025-12-03T18:50:10Z</dcterms:modified>
</cp:coreProperties>
</file>